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vgc2sw9ji7j6RcCqjF9dS9xnG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EE3A70-3416-420F-8DA9-ADF39E0F7646}">
  <a:tblStyle styleId="{17EE3A70-3416-420F-8DA9-ADF39E0F764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9E7"/>
          </a:solidFill>
        </a:fill>
      </a:tcStyle>
    </a:wholeTbl>
    <a:band1H>
      <a:tcTxStyle b="off" i="off"/>
      <a:tcStyle>
        <a:fill>
          <a:solidFill>
            <a:srgbClr val="FFCF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CFCC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ae4169cb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dae4169cb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dae4169cbb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471340" y="1122363"/>
            <a:ext cx="578576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471340" y="3602038"/>
            <a:ext cx="578576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7075" y="5718264"/>
            <a:ext cx="3117851" cy="80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4"/>
          <p:cNvSpPr txBox="1"/>
          <p:nvPr>
            <p:ph idx="2" type="body"/>
          </p:nvPr>
        </p:nvSpPr>
        <p:spPr>
          <a:xfrm>
            <a:off x="666750" y="6416764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666750" y="6277655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78823" y="365125"/>
            <a:ext cx="961426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  <a:defRPr b="1" i="0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78823" y="1690688"/>
            <a:ext cx="9614263" cy="3625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294B"/>
              </a:buClr>
              <a:buSzPts val="2800"/>
              <a:buChar char="•"/>
              <a:defRPr>
                <a:solidFill>
                  <a:srgbClr val="13294B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Char char="•"/>
              <a:defRPr>
                <a:solidFill>
                  <a:srgbClr val="13294B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000"/>
              <a:buChar char="•"/>
              <a:defRPr>
                <a:solidFill>
                  <a:srgbClr val="13294B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>
                <a:solidFill>
                  <a:srgbClr val="13294B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Char char="•"/>
              <a:defRPr>
                <a:solidFill>
                  <a:srgbClr val="13294B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  <a:defRPr b="1" i="0" sz="4400" u="none" cap="none" strike="noStrike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3" Type="http://schemas.openxmlformats.org/officeDocument/2006/relationships/image" Target="../media/image25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1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mdpi.com/2076-3417/11/24/120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>
            <p:ph type="ctrTitle"/>
          </p:nvPr>
        </p:nvSpPr>
        <p:spPr>
          <a:xfrm>
            <a:off x="228600" y="1777999"/>
            <a:ext cx="11839575" cy="20621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Smart Tool Wear and Breakage Detection via Servo Load Monitoring</a:t>
            </a:r>
            <a:endParaRPr/>
          </a:p>
        </p:txBody>
      </p:sp>
      <p:sp>
        <p:nvSpPr>
          <p:cNvPr id="30" name="Google Shape;30;p1"/>
          <p:cNvSpPr txBox="1"/>
          <p:nvPr>
            <p:ph idx="1" type="subTitle"/>
          </p:nvPr>
        </p:nvSpPr>
        <p:spPr>
          <a:xfrm>
            <a:off x="3253196" y="3932238"/>
            <a:ext cx="568560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Jisu Hong, Leah Lee, Nawaf Rasheed</a:t>
            </a:r>
            <a:endParaRPr/>
          </a:p>
        </p:txBody>
      </p:sp>
      <p:sp>
        <p:nvSpPr>
          <p:cNvPr id="31" name="Google Shape;3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idx="4294967295" type="title"/>
          </p:nvPr>
        </p:nvSpPr>
        <p:spPr>
          <a:xfrm>
            <a:off x="31249" y="26690"/>
            <a:ext cx="8303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Motivation 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31249" y="880547"/>
            <a:ext cx="121920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Machining tools are often replaced on a fixed schedule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Early replacement wastes usable tool life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Late replacement can cause poor surface finish, scrap parts, or tool breakage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 low-cost monitoring method can help detect wear before failure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294B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pic>
        <p:nvPicPr>
          <p:cNvPr descr="A Machinist Guide to Identifying Tool Wear Patterns | Unveiling the Secrets  of Machini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95" y="3165986"/>
            <a:ext cx="3748158" cy="2811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dentifying tool wear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3512" y="3208985"/>
            <a:ext cx="4013293" cy="267686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1700911" y="6322961"/>
            <a:ext cx="91446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Wu et al. (2020) The International Journal of Advanced Manufacturing Technology 106 (2020) 4391-4399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idx="4294967295" type="title"/>
          </p:nvPr>
        </p:nvSpPr>
        <p:spPr>
          <a:xfrm>
            <a:off x="354821" y="0"/>
            <a:ext cx="798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Problem </a:t>
            </a:r>
            <a:endParaRPr/>
          </a:p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0" y="1133550"/>
            <a:ext cx="6826800" cy="4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Tool wear progresses from initial wear to steady wear and eventually to accelerated wear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Existing monitoring systems can require </a:t>
            </a:r>
            <a:r>
              <a:rPr b="1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expensive sensors </a:t>
            </a: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and a </a:t>
            </a:r>
            <a:r>
              <a:rPr b="1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complex setup</a:t>
            </a:r>
            <a:endParaRPr/>
          </a:p>
          <a:p>
            <a:pPr indent="0" lvl="0" marL="50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800" u="sng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Our problem</a:t>
            </a: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: how can we predict maximum flank wear (V</a:t>
            </a:r>
            <a:r>
              <a:rPr b="0" baseline="-2500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 )in a cost-efficient way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8400" y="1341054"/>
            <a:ext cx="5233600" cy="32289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 txBox="1"/>
          <p:nvPr/>
        </p:nvSpPr>
        <p:spPr>
          <a:xfrm>
            <a:off x="1771650" y="6273889"/>
            <a:ext cx="83248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Zhu et al. (2019) Mechanical Systems and Signal Processing 115 (2019) 147-161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idx="4294967295" type="title"/>
          </p:nvPr>
        </p:nvSpPr>
        <p:spPr>
          <a:xfrm>
            <a:off x="404025" y="0"/>
            <a:ext cx="845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61" name="Google Shape;61;p4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15600" y="1264925"/>
            <a:ext cx="121608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ML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to estimate maximum flank wear, </a:t>
            </a: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baseline="-25000" lang="en-US" sz="2800">
                <a:latin typeface="Calibri"/>
                <a:ea typeface="Calibri"/>
                <a:cs typeface="Calibri"/>
                <a:sym typeface="Calibri"/>
              </a:rPr>
              <a:t>b,max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 from machining signals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Determine whether ML-based tool wear prediction is supported by previous studies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Evaluate how accurately our model predicts tool wear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Compare full sensor input vs. force/torque-only input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Assess whether this approach can support future tool condition monitoring</a:t>
            </a:r>
            <a:endParaRPr sz="28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-3550150" y="-4588815"/>
            <a:ext cx="121608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Use Machine Learning (ML) to estimate tool wear from machining signals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Input signals: force/torque, vibration, and sound data from milling cycles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Process raw data into meaningful statistical and frequency features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Train a neural network to estimate tool wear and compare sensor input cases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Long-term goal: warn operators or stop machining before severe tool failure</a:t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>
            <p:ph idx="4294967295" type="title"/>
          </p:nvPr>
        </p:nvSpPr>
        <p:spPr>
          <a:xfrm>
            <a:off x="0" y="0"/>
            <a:ext cx="7492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Literature review </a:t>
            </a:r>
            <a:r>
              <a:rPr lang="en-US" sz="3500"/>
              <a:t>(1)</a:t>
            </a:r>
            <a:endParaRPr sz="3500"/>
          </a:p>
        </p:txBody>
      </p:sp>
      <p:sp>
        <p:nvSpPr>
          <p:cNvPr id="71" name="Google Shape;71;p5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pic>
        <p:nvPicPr>
          <p:cNvPr descr="Fig. 3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5343" y="1374635"/>
            <a:ext cx="4642427" cy="450174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 txBox="1"/>
          <p:nvPr/>
        </p:nvSpPr>
        <p:spPr>
          <a:xfrm>
            <a:off x="147377" y="1953652"/>
            <a:ext cx="388017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Milling process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data during machining: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Cutting force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Vibration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Acoustic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700911" y="6322961"/>
            <a:ext cx="91446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Wu et al. (2020) The International Journal of Advanced Manufacturing Technology 106 (2020) 4391-4399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5101" y="742390"/>
            <a:ext cx="3877837" cy="2422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5"/>
          <p:cNvGraphicFramePr/>
          <p:nvPr/>
        </p:nvGraphicFramePr>
        <p:xfrm>
          <a:off x="8214286" y="44803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{17EE3A70-3416-420F-8DA9-ADF39E0F7646}</a:tableStyleId>
              </a:tblPr>
              <a:tblGrid>
                <a:gridCol w="1259425"/>
                <a:gridCol w="1259425"/>
                <a:gridCol w="1259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BiLSTM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Training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Test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MSE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3.6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5.0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78" name="Google Shape;78;p5"/>
          <p:cNvSpPr txBox="1"/>
          <p:nvPr/>
        </p:nvSpPr>
        <p:spPr>
          <a:xfrm>
            <a:off x="0" y="5375125"/>
            <a:ext cx="34004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BiLSTM = Bidirectional Long Short-Term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8214286" y="3904762"/>
            <a:ext cx="3488599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8000" l="0" r="0" t="-6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942800" y="3376239"/>
            <a:ext cx="16012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function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4294967295" type="title"/>
          </p:nvPr>
        </p:nvSpPr>
        <p:spPr>
          <a:xfrm>
            <a:off x="427175" y="0"/>
            <a:ext cx="8690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Literature review </a:t>
            </a:r>
            <a:r>
              <a:rPr lang="en-US" sz="3500"/>
              <a:t>(2)</a:t>
            </a:r>
            <a:endParaRPr sz="3500"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0" y="1969555"/>
            <a:ext cx="3880174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Milling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data during machining: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Cutting force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Vibration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Cutting speed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700911" y="6322961"/>
            <a:ext cx="91446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Wiciak-Pikuła et al. (2020) Sensors 20 (2020) 5798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nsors 20 05798 g007" id="91" name="Google Shape;91;p17"/>
          <p:cNvPicPr preferRelativeResize="0"/>
          <p:nvPr/>
        </p:nvPicPr>
        <p:blipFill rotWithShape="1">
          <a:blip r:embed="rId3">
            <a:alphaModFix/>
          </a:blip>
          <a:srcRect b="4027" l="3282" r="7057" t="2623"/>
          <a:stretch/>
        </p:blipFill>
        <p:spPr>
          <a:xfrm>
            <a:off x="2791968" y="1567073"/>
            <a:ext cx="4565904" cy="35915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7"/>
          <p:cNvGrpSpPr/>
          <p:nvPr/>
        </p:nvGrpSpPr>
        <p:grpSpPr>
          <a:xfrm>
            <a:off x="7570437" y="1699333"/>
            <a:ext cx="4565904" cy="2989467"/>
            <a:chOff x="7626096" y="2918366"/>
            <a:chExt cx="4565904" cy="2989467"/>
          </a:xfrm>
        </p:grpSpPr>
        <p:sp>
          <p:nvSpPr>
            <p:cNvPr id="93" name="Google Shape;93;p17"/>
            <p:cNvSpPr txBox="1"/>
            <p:nvPr/>
          </p:nvSpPr>
          <p:spPr>
            <a:xfrm>
              <a:off x="7897582" y="5600056"/>
              <a:ext cx="3488599" cy="3077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000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7626096" y="5238604"/>
              <a:ext cx="16012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Loss function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ensors 20 05798 g009" id="95" name="Google Shape;9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6096" y="2918366"/>
              <a:ext cx="4565904" cy="21937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4294967295" type="title"/>
          </p:nvPr>
        </p:nvSpPr>
        <p:spPr>
          <a:xfrm>
            <a:off x="0" y="4064"/>
            <a:ext cx="114823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Our Dataset</a:t>
            </a:r>
            <a:endParaRPr/>
          </a:p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0" y="1584553"/>
            <a:ext cx="388017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Milling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Machining Path: circular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Tool: Coated TiAlN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 cutting cycle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data during machining: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Cutting force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Vibration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Acoustic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1850965" y="6273889"/>
            <a:ext cx="9509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 et al. (2025) A multi-feature dataset of coated end milling cutter tool wear whole life cycle. Scientific Data, 12(1), 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130264" y="72004"/>
            <a:ext cx="69454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multi-feature dataset of coated end milling cutter tool wear whole life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049" y="447721"/>
            <a:ext cx="8303049" cy="559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idx="4294967295" type="title"/>
          </p:nvPr>
        </p:nvSpPr>
        <p:spPr>
          <a:xfrm>
            <a:off x="0" y="-6214"/>
            <a:ext cx="650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Our ML Architecture  </a:t>
            </a:r>
            <a:endParaRPr/>
          </a:p>
        </p:txBody>
      </p:sp>
      <p:sp>
        <p:nvSpPr>
          <p:cNvPr id="114" name="Google Shape;114;p7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66750" y="1234481"/>
            <a:ext cx="2181974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Cutting force: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Vibration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Acoustic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979137" y="1665368"/>
            <a:ext cx="1428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Torque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979137" y="2925602"/>
            <a:ext cx="14287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Z-axis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3841482" y="4028144"/>
            <a:ext cx="8656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4787818" y="4028144"/>
            <a:ext cx="8656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4401077" y="1011416"/>
            <a:ext cx="12258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7"/>
          <p:cNvGrpSpPr/>
          <p:nvPr/>
        </p:nvGrpSpPr>
        <p:grpSpPr>
          <a:xfrm>
            <a:off x="3345379" y="1309210"/>
            <a:ext cx="4041329" cy="2562096"/>
            <a:chOff x="3296499" y="1595457"/>
            <a:chExt cx="4041329" cy="2562096"/>
          </a:xfrm>
        </p:grpSpPr>
        <p:sp>
          <p:nvSpPr>
            <p:cNvPr id="123" name="Google Shape;123;p7"/>
            <p:cNvSpPr/>
            <p:nvPr/>
          </p:nvSpPr>
          <p:spPr>
            <a:xfrm>
              <a:off x="4225449" y="1680089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4225449" y="1993820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225449" y="2307551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" name="Google Shape;126;p7"/>
            <p:cNvCxnSpPr/>
            <p:nvPr/>
          </p:nvCxnSpPr>
          <p:spPr>
            <a:xfrm>
              <a:off x="3676312" y="1790623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7"/>
            <p:cNvCxnSpPr/>
            <p:nvPr/>
          </p:nvCxnSpPr>
          <p:spPr>
            <a:xfrm>
              <a:off x="3676312" y="2105027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" name="Google Shape;128;p7"/>
            <p:cNvCxnSpPr/>
            <p:nvPr/>
          </p:nvCxnSpPr>
          <p:spPr>
            <a:xfrm>
              <a:off x="3676312" y="2419431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" name="Google Shape;129;p7"/>
            <p:cNvCxnSpPr/>
            <p:nvPr/>
          </p:nvCxnSpPr>
          <p:spPr>
            <a:xfrm>
              <a:off x="3676312" y="2733835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0" name="Google Shape;130;p7"/>
            <p:cNvCxnSpPr/>
            <p:nvPr/>
          </p:nvCxnSpPr>
          <p:spPr>
            <a:xfrm>
              <a:off x="3676312" y="3048239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1" name="Google Shape;131;p7"/>
            <p:cNvSpPr/>
            <p:nvPr/>
          </p:nvSpPr>
          <p:spPr>
            <a:xfrm>
              <a:off x="4225449" y="2621282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4225449" y="2935013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4225449" y="3248744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7"/>
            <p:cNvCxnSpPr/>
            <p:nvPr/>
          </p:nvCxnSpPr>
          <p:spPr>
            <a:xfrm>
              <a:off x="3676312" y="3362645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5" name="Google Shape;135;p7"/>
            <p:cNvSpPr txBox="1"/>
            <p:nvPr/>
          </p:nvSpPr>
          <p:spPr>
            <a:xfrm>
              <a:off x="3331038" y="1595457"/>
              <a:ext cx="342900" cy="3077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8000" l="0" r="-14035" t="-60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"/>
            <p:cNvSpPr txBox="1"/>
            <p:nvPr/>
          </p:nvSpPr>
          <p:spPr>
            <a:xfrm>
              <a:off x="3331038" y="1916631"/>
              <a:ext cx="342900" cy="3247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1111" l="0" r="-14035" t="-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"/>
            <p:cNvSpPr txBox="1"/>
            <p:nvPr/>
          </p:nvSpPr>
          <p:spPr>
            <a:xfrm>
              <a:off x="3331038" y="2232554"/>
              <a:ext cx="342900" cy="3077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7647" l="0" r="-10527" t="-58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 txBox="1"/>
            <p:nvPr/>
          </p:nvSpPr>
          <p:spPr>
            <a:xfrm>
              <a:off x="3296747" y="2538139"/>
              <a:ext cx="342900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7647" l="0" r="-33930" t="-39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 txBox="1"/>
            <p:nvPr/>
          </p:nvSpPr>
          <p:spPr>
            <a:xfrm>
              <a:off x="3296499" y="2857824"/>
              <a:ext cx="342900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8000" l="0" r="-16071" t="-60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 txBox="1"/>
            <p:nvPr/>
          </p:nvSpPr>
          <p:spPr>
            <a:xfrm>
              <a:off x="3296499" y="3195989"/>
              <a:ext cx="342900" cy="32476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11111" l="0" r="-17856" t="-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" name="Google Shape;141;p7"/>
            <p:cNvCxnSpPr/>
            <p:nvPr/>
          </p:nvCxnSpPr>
          <p:spPr>
            <a:xfrm>
              <a:off x="3676312" y="3702026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2" name="Google Shape;142;p7"/>
            <p:cNvSpPr/>
            <p:nvPr/>
          </p:nvSpPr>
          <p:spPr>
            <a:xfrm>
              <a:off x="4225449" y="3588800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4225449" y="3902531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" name="Google Shape;144;p7"/>
            <p:cNvCxnSpPr/>
            <p:nvPr/>
          </p:nvCxnSpPr>
          <p:spPr>
            <a:xfrm>
              <a:off x="3676312" y="4016432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5" name="Google Shape;145;p7"/>
            <p:cNvSpPr txBox="1"/>
            <p:nvPr/>
          </p:nvSpPr>
          <p:spPr>
            <a:xfrm>
              <a:off x="3296499" y="3511611"/>
              <a:ext cx="342900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7647" l="0" r="-14286" t="-58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 txBox="1"/>
            <p:nvPr/>
          </p:nvSpPr>
          <p:spPr>
            <a:xfrm>
              <a:off x="3296499" y="3849776"/>
              <a:ext cx="342900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18000" l="0" r="-10714" t="-60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313101" y="1680089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313101" y="1993820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5313101" y="2307551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5313101" y="2621282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5394989" y="2989054"/>
              <a:ext cx="59185" cy="59185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5394988" y="3215884"/>
              <a:ext cx="59185" cy="59185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5404375" y="3452426"/>
              <a:ext cx="59185" cy="59185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5313101" y="3902531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7"/>
            <p:cNvCxnSpPr>
              <a:stCxn id="123" idx="6"/>
              <a:endCxn id="147" idx="2"/>
            </p:cNvCxnSpPr>
            <p:nvPr/>
          </p:nvCxnSpPr>
          <p:spPr>
            <a:xfrm>
              <a:off x="4456037" y="1795383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7"/>
            <p:cNvCxnSpPr>
              <a:stCxn id="123" idx="6"/>
              <a:endCxn id="148" idx="2"/>
            </p:cNvCxnSpPr>
            <p:nvPr/>
          </p:nvCxnSpPr>
          <p:spPr>
            <a:xfrm>
              <a:off x="4456037" y="1795383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7"/>
            <p:cNvCxnSpPr>
              <a:stCxn id="123" idx="6"/>
              <a:endCxn id="149" idx="2"/>
            </p:cNvCxnSpPr>
            <p:nvPr/>
          </p:nvCxnSpPr>
          <p:spPr>
            <a:xfrm>
              <a:off x="4456037" y="1795383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7"/>
            <p:cNvCxnSpPr>
              <a:stCxn id="123" idx="6"/>
              <a:endCxn id="150" idx="2"/>
            </p:cNvCxnSpPr>
            <p:nvPr/>
          </p:nvCxnSpPr>
          <p:spPr>
            <a:xfrm>
              <a:off x="4456037" y="1795383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7"/>
            <p:cNvCxnSpPr>
              <a:stCxn id="123" idx="6"/>
              <a:endCxn id="154" idx="2"/>
            </p:cNvCxnSpPr>
            <p:nvPr/>
          </p:nvCxnSpPr>
          <p:spPr>
            <a:xfrm>
              <a:off x="4456037" y="1795383"/>
              <a:ext cx="857100" cy="222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7"/>
            <p:cNvCxnSpPr>
              <a:stCxn id="124" idx="6"/>
              <a:endCxn id="147" idx="2"/>
            </p:cNvCxnSpPr>
            <p:nvPr/>
          </p:nvCxnSpPr>
          <p:spPr>
            <a:xfrm flipH="1" rot="10800000">
              <a:off x="4456037" y="179531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7"/>
            <p:cNvCxnSpPr>
              <a:stCxn id="124" idx="6"/>
              <a:endCxn id="148" idx="2"/>
            </p:cNvCxnSpPr>
            <p:nvPr/>
          </p:nvCxnSpPr>
          <p:spPr>
            <a:xfrm>
              <a:off x="4456037" y="2109114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7"/>
            <p:cNvCxnSpPr>
              <a:stCxn id="124" idx="6"/>
              <a:endCxn id="149" idx="2"/>
            </p:cNvCxnSpPr>
            <p:nvPr/>
          </p:nvCxnSpPr>
          <p:spPr>
            <a:xfrm>
              <a:off x="4456037" y="210911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7"/>
            <p:cNvCxnSpPr>
              <a:stCxn id="124" idx="6"/>
              <a:endCxn id="150" idx="2"/>
            </p:cNvCxnSpPr>
            <p:nvPr/>
          </p:nvCxnSpPr>
          <p:spPr>
            <a:xfrm>
              <a:off x="4456037" y="2109114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7"/>
            <p:cNvCxnSpPr>
              <a:stCxn id="124" idx="6"/>
              <a:endCxn id="154" idx="2"/>
            </p:cNvCxnSpPr>
            <p:nvPr/>
          </p:nvCxnSpPr>
          <p:spPr>
            <a:xfrm>
              <a:off x="4456037" y="2109114"/>
              <a:ext cx="857100" cy="190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7"/>
            <p:cNvCxnSpPr>
              <a:stCxn id="114" idx="6"/>
              <a:endCxn id="147" idx="2"/>
            </p:cNvCxnSpPr>
            <p:nvPr/>
          </p:nvCxnSpPr>
          <p:spPr>
            <a:xfrm flipH="1" rot="10800000">
              <a:off x="4456001" y="1795383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7"/>
            <p:cNvCxnSpPr>
              <a:stCxn id="114" idx="6"/>
              <a:endCxn id="148" idx="2"/>
            </p:cNvCxnSpPr>
            <p:nvPr/>
          </p:nvCxnSpPr>
          <p:spPr>
            <a:xfrm flipH="1" rot="10800000">
              <a:off x="4456001" y="210911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7"/>
            <p:cNvCxnSpPr>
              <a:stCxn id="114" idx="6"/>
              <a:endCxn id="149" idx="2"/>
            </p:cNvCxnSpPr>
            <p:nvPr/>
          </p:nvCxnSpPr>
          <p:spPr>
            <a:xfrm>
              <a:off x="4456001" y="2422845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7"/>
            <p:cNvCxnSpPr>
              <a:stCxn id="114" idx="6"/>
              <a:endCxn id="150" idx="2"/>
            </p:cNvCxnSpPr>
            <p:nvPr/>
          </p:nvCxnSpPr>
          <p:spPr>
            <a:xfrm>
              <a:off x="4456001" y="2422776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7"/>
            <p:cNvCxnSpPr>
              <a:stCxn id="114" idx="6"/>
              <a:endCxn id="154" idx="2"/>
            </p:cNvCxnSpPr>
            <p:nvPr/>
          </p:nvCxnSpPr>
          <p:spPr>
            <a:xfrm>
              <a:off x="4456001" y="2422725"/>
              <a:ext cx="857100" cy="159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7"/>
            <p:cNvCxnSpPr>
              <a:stCxn id="131" idx="6"/>
              <a:endCxn id="147" idx="2"/>
            </p:cNvCxnSpPr>
            <p:nvPr/>
          </p:nvCxnSpPr>
          <p:spPr>
            <a:xfrm flipH="1" rot="10800000">
              <a:off x="4456037" y="1795476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7"/>
            <p:cNvCxnSpPr>
              <a:stCxn id="131" idx="6"/>
              <a:endCxn id="148" idx="2"/>
            </p:cNvCxnSpPr>
            <p:nvPr/>
          </p:nvCxnSpPr>
          <p:spPr>
            <a:xfrm flipH="1" rot="10800000">
              <a:off x="4456037" y="2108976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7"/>
            <p:cNvCxnSpPr>
              <a:stCxn id="131" idx="6"/>
              <a:endCxn id="149" idx="2"/>
            </p:cNvCxnSpPr>
            <p:nvPr/>
          </p:nvCxnSpPr>
          <p:spPr>
            <a:xfrm flipH="1" rot="10800000">
              <a:off x="4456037" y="2422776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7"/>
            <p:cNvCxnSpPr>
              <a:stCxn id="131" idx="6"/>
              <a:endCxn id="150" idx="2"/>
            </p:cNvCxnSpPr>
            <p:nvPr/>
          </p:nvCxnSpPr>
          <p:spPr>
            <a:xfrm>
              <a:off x="4456037" y="2736576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7"/>
            <p:cNvCxnSpPr>
              <a:stCxn id="131" idx="6"/>
              <a:endCxn id="154" idx="2"/>
            </p:cNvCxnSpPr>
            <p:nvPr/>
          </p:nvCxnSpPr>
          <p:spPr>
            <a:xfrm>
              <a:off x="4456037" y="2736576"/>
              <a:ext cx="857100" cy="128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7"/>
            <p:cNvCxnSpPr>
              <a:stCxn id="132" idx="6"/>
              <a:endCxn id="150" idx="2"/>
            </p:cNvCxnSpPr>
            <p:nvPr/>
          </p:nvCxnSpPr>
          <p:spPr>
            <a:xfrm flipH="1" rot="10800000">
              <a:off x="4456037" y="2736507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7"/>
            <p:cNvCxnSpPr>
              <a:stCxn id="132" idx="6"/>
              <a:endCxn id="147" idx="2"/>
            </p:cNvCxnSpPr>
            <p:nvPr/>
          </p:nvCxnSpPr>
          <p:spPr>
            <a:xfrm flipH="1" rot="10800000">
              <a:off x="4456037" y="1795407"/>
              <a:ext cx="857100" cy="125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>
              <a:stCxn id="132" idx="6"/>
              <a:endCxn id="148" idx="2"/>
            </p:cNvCxnSpPr>
            <p:nvPr/>
          </p:nvCxnSpPr>
          <p:spPr>
            <a:xfrm flipH="1" rot="10800000">
              <a:off x="4456037" y="2109207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>
              <a:stCxn id="132" idx="6"/>
              <a:endCxn id="149" idx="2"/>
            </p:cNvCxnSpPr>
            <p:nvPr/>
          </p:nvCxnSpPr>
          <p:spPr>
            <a:xfrm flipH="1" rot="10800000">
              <a:off x="4456037" y="2422707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>
              <a:stCxn id="132" idx="6"/>
              <a:endCxn id="154" idx="2"/>
            </p:cNvCxnSpPr>
            <p:nvPr/>
          </p:nvCxnSpPr>
          <p:spPr>
            <a:xfrm>
              <a:off x="4456037" y="3050307"/>
              <a:ext cx="857100" cy="96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>
              <a:stCxn id="133" idx="6"/>
              <a:endCxn id="154" idx="2"/>
            </p:cNvCxnSpPr>
            <p:nvPr/>
          </p:nvCxnSpPr>
          <p:spPr>
            <a:xfrm>
              <a:off x="4456037" y="3364038"/>
              <a:ext cx="857100" cy="65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>
              <a:stCxn id="133" idx="6"/>
              <a:endCxn id="150" idx="2"/>
            </p:cNvCxnSpPr>
            <p:nvPr/>
          </p:nvCxnSpPr>
          <p:spPr>
            <a:xfrm flipH="1" rot="10800000">
              <a:off x="4456037" y="2736438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>
              <a:stCxn id="133" idx="6"/>
              <a:endCxn id="149" idx="2"/>
            </p:cNvCxnSpPr>
            <p:nvPr/>
          </p:nvCxnSpPr>
          <p:spPr>
            <a:xfrm flipH="1" rot="10800000">
              <a:off x="4456037" y="2422938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>
              <a:stCxn id="133" idx="6"/>
              <a:endCxn id="148" idx="2"/>
            </p:cNvCxnSpPr>
            <p:nvPr/>
          </p:nvCxnSpPr>
          <p:spPr>
            <a:xfrm flipH="1" rot="10800000">
              <a:off x="4456037" y="2109138"/>
              <a:ext cx="857100" cy="125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>
              <a:stCxn id="133" idx="6"/>
              <a:endCxn id="147" idx="2"/>
            </p:cNvCxnSpPr>
            <p:nvPr/>
          </p:nvCxnSpPr>
          <p:spPr>
            <a:xfrm flipH="1" rot="10800000">
              <a:off x="4456037" y="1795338"/>
              <a:ext cx="857100" cy="156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>
              <a:stCxn id="142" idx="6"/>
              <a:endCxn id="147" idx="2"/>
            </p:cNvCxnSpPr>
            <p:nvPr/>
          </p:nvCxnSpPr>
          <p:spPr>
            <a:xfrm flipH="1" rot="10800000">
              <a:off x="4456037" y="1795494"/>
              <a:ext cx="857100" cy="190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>
              <a:stCxn id="142" idx="6"/>
              <a:endCxn id="148" idx="2"/>
            </p:cNvCxnSpPr>
            <p:nvPr/>
          </p:nvCxnSpPr>
          <p:spPr>
            <a:xfrm flipH="1" rot="10800000">
              <a:off x="4456037" y="2108994"/>
              <a:ext cx="857100" cy="159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>
              <a:stCxn id="142" idx="6"/>
              <a:endCxn id="149" idx="2"/>
            </p:cNvCxnSpPr>
            <p:nvPr/>
          </p:nvCxnSpPr>
          <p:spPr>
            <a:xfrm flipH="1" rot="10800000">
              <a:off x="4456037" y="2422794"/>
              <a:ext cx="857100" cy="128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>
              <a:stCxn id="142" idx="6"/>
              <a:endCxn id="150" idx="2"/>
            </p:cNvCxnSpPr>
            <p:nvPr/>
          </p:nvCxnSpPr>
          <p:spPr>
            <a:xfrm flipH="1" rot="10800000">
              <a:off x="4456037" y="2736594"/>
              <a:ext cx="857100" cy="96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>
              <a:stCxn id="142" idx="6"/>
              <a:endCxn id="154" idx="2"/>
            </p:cNvCxnSpPr>
            <p:nvPr/>
          </p:nvCxnSpPr>
          <p:spPr>
            <a:xfrm>
              <a:off x="4456037" y="370409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>
              <a:stCxn id="143" idx="6"/>
              <a:endCxn id="154" idx="2"/>
            </p:cNvCxnSpPr>
            <p:nvPr/>
          </p:nvCxnSpPr>
          <p:spPr>
            <a:xfrm>
              <a:off x="4456037" y="4017825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>
              <a:stCxn id="143" idx="6"/>
              <a:endCxn id="150" idx="2"/>
            </p:cNvCxnSpPr>
            <p:nvPr/>
          </p:nvCxnSpPr>
          <p:spPr>
            <a:xfrm flipH="1" rot="10800000">
              <a:off x="4456037" y="2736525"/>
              <a:ext cx="857100" cy="128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>
              <a:stCxn id="143" idx="6"/>
              <a:endCxn id="149" idx="2"/>
            </p:cNvCxnSpPr>
            <p:nvPr/>
          </p:nvCxnSpPr>
          <p:spPr>
            <a:xfrm flipH="1" rot="10800000">
              <a:off x="4456037" y="2422725"/>
              <a:ext cx="857100" cy="159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>
              <a:stCxn id="143" idx="6"/>
              <a:endCxn id="148" idx="2"/>
            </p:cNvCxnSpPr>
            <p:nvPr/>
          </p:nvCxnSpPr>
          <p:spPr>
            <a:xfrm flipH="1" rot="10800000">
              <a:off x="4456037" y="2109225"/>
              <a:ext cx="857100" cy="190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>
              <a:stCxn id="143" idx="6"/>
              <a:endCxn id="147" idx="2"/>
            </p:cNvCxnSpPr>
            <p:nvPr/>
          </p:nvCxnSpPr>
          <p:spPr>
            <a:xfrm flipH="1" rot="10800000">
              <a:off x="4456037" y="1795425"/>
              <a:ext cx="857100" cy="222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" name="Google Shape;195;p7"/>
            <p:cNvSpPr/>
            <p:nvPr/>
          </p:nvSpPr>
          <p:spPr>
            <a:xfrm>
              <a:off x="6156929" y="2662780"/>
              <a:ext cx="487648" cy="48764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Google Shape;196;p7"/>
            <p:cNvCxnSpPr/>
            <p:nvPr/>
          </p:nvCxnSpPr>
          <p:spPr>
            <a:xfrm>
              <a:off x="6747172" y="2935013"/>
              <a:ext cx="475311" cy="0"/>
            </a:xfrm>
            <a:prstGeom prst="straightConnector1">
              <a:avLst/>
            </a:prstGeom>
            <a:noFill/>
            <a:ln cap="flat" cmpd="sng" w="57150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7" name="Google Shape;197;p7"/>
            <p:cNvSpPr txBox="1"/>
            <p:nvPr/>
          </p:nvSpPr>
          <p:spPr>
            <a:xfrm>
              <a:off x="6994928" y="2538138"/>
              <a:ext cx="342900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17647" l="0" r="-21054" t="-39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198;p7"/>
            <p:cNvCxnSpPr>
              <a:stCxn id="147" idx="6"/>
              <a:endCxn id="195" idx="2"/>
            </p:cNvCxnSpPr>
            <p:nvPr/>
          </p:nvCxnSpPr>
          <p:spPr>
            <a:xfrm>
              <a:off x="5543689" y="1795383"/>
              <a:ext cx="613200" cy="111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7"/>
            <p:cNvCxnSpPr>
              <a:stCxn id="148" idx="6"/>
              <a:endCxn id="195" idx="2"/>
            </p:cNvCxnSpPr>
            <p:nvPr/>
          </p:nvCxnSpPr>
          <p:spPr>
            <a:xfrm>
              <a:off x="5543689" y="2109114"/>
              <a:ext cx="613200" cy="7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7"/>
            <p:cNvCxnSpPr>
              <a:stCxn id="149" idx="6"/>
              <a:endCxn id="195" idx="2"/>
            </p:cNvCxnSpPr>
            <p:nvPr/>
          </p:nvCxnSpPr>
          <p:spPr>
            <a:xfrm>
              <a:off x="5543689" y="2422845"/>
              <a:ext cx="613200" cy="48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7"/>
            <p:cNvCxnSpPr>
              <a:stCxn id="150" idx="6"/>
              <a:endCxn id="195" idx="2"/>
            </p:cNvCxnSpPr>
            <p:nvPr/>
          </p:nvCxnSpPr>
          <p:spPr>
            <a:xfrm>
              <a:off x="5543689" y="2736576"/>
              <a:ext cx="613200" cy="17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7"/>
            <p:cNvCxnSpPr>
              <a:stCxn id="154" idx="6"/>
              <a:endCxn id="195" idx="2"/>
            </p:cNvCxnSpPr>
            <p:nvPr/>
          </p:nvCxnSpPr>
          <p:spPr>
            <a:xfrm flipH="1" rot="10800000">
              <a:off x="5543689" y="2906625"/>
              <a:ext cx="613200" cy="111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3" name="Google Shape;203;p7"/>
          <p:cNvSpPr txBox="1"/>
          <p:nvPr/>
        </p:nvSpPr>
        <p:spPr>
          <a:xfrm>
            <a:off x="8206459" y="4028144"/>
            <a:ext cx="8656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9152795" y="4028144"/>
            <a:ext cx="8656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Hidden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8700480" y="1011415"/>
            <a:ext cx="12258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7710356" y="1309210"/>
            <a:ext cx="4041329" cy="2562096"/>
            <a:chOff x="3296499" y="1595457"/>
            <a:chExt cx="4041329" cy="2562096"/>
          </a:xfrm>
        </p:grpSpPr>
        <p:sp>
          <p:nvSpPr>
            <p:cNvPr id="207" name="Google Shape;207;p7"/>
            <p:cNvSpPr/>
            <p:nvPr/>
          </p:nvSpPr>
          <p:spPr>
            <a:xfrm>
              <a:off x="4225449" y="1680089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225449" y="1993820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225449" y="2307551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" name="Google Shape;210;p7"/>
            <p:cNvCxnSpPr/>
            <p:nvPr/>
          </p:nvCxnSpPr>
          <p:spPr>
            <a:xfrm>
              <a:off x="3676312" y="1790623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" name="Google Shape;211;p7"/>
            <p:cNvCxnSpPr/>
            <p:nvPr/>
          </p:nvCxnSpPr>
          <p:spPr>
            <a:xfrm>
              <a:off x="3676312" y="2105027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" name="Google Shape;212;p7"/>
            <p:cNvCxnSpPr/>
            <p:nvPr/>
          </p:nvCxnSpPr>
          <p:spPr>
            <a:xfrm>
              <a:off x="3676312" y="2419431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3" name="Google Shape;213;p7"/>
            <p:cNvCxnSpPr/>
            <p:nvPr/>
          </p:nvCxnSpPr>
          <p:spPr>
            <a:xfrm>
              <a:off x="3676312" y="2733835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7"/>
            <p:cNvCxnSpPr/>
            <p:nvPr/>
          </p:nvCxnSpPr>
          <p:spPr>
            <a:xfrm>
              <a:off x="3676312" y="3048239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5" name="Google Shape;215;p7"/>
            <p:cNvSpPr/>
            <p:nvPr/>
          </p:nvSpPr>
          <p:spPr>
            <a:xfrm>
              <a:off x="4225449" y="2621282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4225449" y="2935013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4225449" y="3248744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7"/>
            <p:cNvCxnSpPr/>
            <p:nvPr/>
          </p:nvCxnSpPr>
          <p:spPr>
            <a:xfrm>
              <a:off x="3676312" y="3362645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9" name="Google Shape;219;p7"/>
            <p:cNvSpPr txBox="1"/>
            <p:nvPr/>
          </p:nvSpPr>
          <p:spPr>
            <a:xfrm>
              <a:off x="3331038" y="1595457"/>
              <a:ext cx="342900" cy="30777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18000" l="0" r="-14035" t="-60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3331038" y="1916631"/>
              <a:ext cx="342900" cy="324769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11111" l="0" r="-14035" t="-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3331038" y="2232554"/>
              <a:ext cx="342900" cy="307777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17647" l="0" r="-10527" t="-58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 txBox="1"/>
            <p:nvPr/>
          </p:nvSpPr>
          <p:spPr>
            <a:xfrm>
              <a:off x="3296747" y="2538139"/>
              <a:ext cx="342900" cy="30777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7647" l="0" r="-33930" t="-39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3296499" y="2857824"/>
              <a:ext cx="342900" cy="30777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8000" l="0" r="-16071" t="-60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3296499" y="3195989"/>
              <a:ext cx="342900" cy="32476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11111" l="0" r="-17856" t="-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p7"/>
            <p:cNvCxnSpPr/>
            <p:nvPr/>
          </p:nvCxnSpPr>
          <p:spPr>
            <a:xfrm>
              <a:off x="3676312" y="3702026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6" name="Google Shape;226;p7"/>
            <p:cNvSpPr/>
            <p:nvPr/>
          </p:nvSpPr>
          <p:spPr>
            <a:xfrm>
              <a:off x="4225449" y="3588800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4225449" y="3902531"/>
              <a:ext cx="230588" cy="23058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p7"/>
            <p:cNvCxnSpPr/>
            <p:nvPr/>
          </p:nvCxnSpPr>
          <p:spPr>
            <a:xfrm>
              <a:off x="3676312" y="4016432"/>
              <a:ext cx="475311" cy="0"/>
            </a:xfrm>
            <a:prstGeom prst="straightConnector1">
              <a:avLst/>
            </a:prstGeom>
            <a:noFill/>
            <a:ln cap="flat" cmpd="sng" w="9525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9" name="Google Shape;229;p7"/>
            <p:cNvSpPr txBox="1"/>
            <p:nvPr/>
          </p:nvSpPr>
          <p:spPr>
            <a:xfrm>
              <a:off x="3296499" y="3511611"/>
              <a:ext cx="342900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7647" l="0" r="-14286" t="-58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 txBox="1"/>
            <p:nvPr/>
          </p:nvSpPr>
          <p:spPr>
            <a:xfrm>
              <a:off x="3296499" y="3849776"/>
              <a:ext cx="342900" cy="30777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18000" l="0" r="-10714" t="-60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5313101" y="1680089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5313101" y="1993820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5313101" y="2307551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5313101" y="2621282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5394989" y="2989054"/>
              <a:ext cx="59185" cy="59185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5394988" y="3215884"/>
              <a:ext cx="59185" cy="59185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5404375" y="3452426"/>
              <a:ext cx="59185" cy="59185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5313101" y="3902531"/>
              <a:ext cx="230588" cy="230588"/>
            </a:xfrm>
            <a:prstGeom prst="ellipse">
              <a:avLst/>
            </a:prstGeom>
            <a:solidFill>
              <a:srgbClr val="D5E1EC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" name="Google Shape;239;p7"/>
            <p:cNvCxnSpPr>
              <a:stCxn id="207" idx="6"/>
              <a:endCxn id="231" idx="2"/>
            </p:cNvCxnSpPr>
            <p:nvPr/>
          </p:nvCxnSpPr>
          <p:spPr>
            <a:xfrm>
              <a:off x="4456037" y="1795383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7"/>
            <p:cNvCxnSpPr>
              <a:stCxn id="207" idx="6"/>
              <a:endCxn id="232" idx="2"/>
            </p:cNvCxnSpPr>
            <p:nvPr/>
          </p:nvCxnSpPr>
          <p:spPr>
            <a:xfrm>
              <a:off x="4456037" y="1795383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7"/>
            <p:cNvCxnSpPr>
              <a:stCxn id="207" idx="6"/>
              <a:endCxn id="233" idx="2"/>
            </p:cNvCxnSpPr>
            <p:nvPr/>
          </p:nvCxnSpPr>
          <p:spPr>
            <a:xfrm>
              <a:off x="4456037" y="1795383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7"/>
            <p:cNvCxnSpPr>
              <a:stCxn id="207" idx="6"/>
              <a:endCxn id="234" idx="2"/>
            </p:cNvCxnSpPr>
            <p:nvPr/>
          </p:nvCxnSpPr>
          <p:spPr>
            <a:xfrm>
              <a:off x="4456037" y="1795383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7"/>
            <p:cNvCxnSpPr>
              <a:stCxn id="207" idx="6"/>
              <a:endCxn id="238" idx="2"/>
            </p:cNvCxnSpPr>
            <p:nvPr/>
          </p:nvCxnSpPr>
          <p:spPr>
            <a:xfrm>
              <a:off x="4456037" y="1795383"/>
              <a:ext cx="857100" cy="222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7"/>
            <p:cNvCxnSpPr>
              <a:stCxn id="208" idx="6"/>
              <a:endCxn id="231" idx="2"/>
            </p:cNvCxnSpPr>
            <p:nvPr/>
          </p:nvCxnSpPr>
          <p:spPr>
            <a:xfrm flipH="1" rot="10800000">
              <a:off x="4456037" y="179531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7"/>
            <p:cNvCxnSpPr>
              <a:stCxn id="208" idx="6"/>
              <a:endCxn id="232" idx="2"/>
            </p:cNvCxnSpPr>
            <p:nvPr/>
          </p:nvCxnSpPr>
          <p:spPr>
            <a:xfrm>
              <a:off x="4456037" y="2109114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7"/>
            <p:cNvCxnSpPr>
              <a:stCxn id="208" idx="6"/>
              <a:endCxn id="233" idx="2"/>
            </p:cNvCxnSpPr>
            <p:nvPr/>
          </p:nvCxnSpPr>
          <p:spPr>
            <a:xfrm>
              <a:off x="4456037" y="210911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7"/>
            <p:cNvCxnSpPr>
              <a:stCxn id="208" idx="6"/>
              <a:endCxn id="234" idx="2"/>
            </p:cNvCxnSpPr>
            <p:nvPr/>
          </p:nvCxnSpPr>
          <p:spPr>
            <a:xfrm>
              <a:off x="4456037" y="2109114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7"/>
            <p:cNvCxnSpPr>
              <a:stCxn id="208" idx="6"/>
              <a:endCxn id="238" idx="2"/>
            </p:cNvCxnSpPr>
            <p:nvPr/>
          </p:nvCxnSpPr>
          <p:spPr>
            <a:xfrm>
              <a:off x="4456037" y="2109114"/>
              <a:ext cx="857100" cy="190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7"/>
            <p:cNvCxnSpPr>
              <a:stCxn id="209" idx="6"/>
              <a:endCxn id="231" idx="2"/>
            </p:cNvCxnSpPr>
            <p:nvPr/>
          </p:nvCxnSpPr>
          <p:spPr>
            <a:xfrm flipH="1" rot="10800000">
              <a:off x="4456037" y="1795245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7"/>
            <p:cNvCxnSpPr>
              <a:stCxn id="209" idx="6"/>
              <a:endCxn id="232" idx="2"/>
            </p:cNvCxnSpPr>
            <p:nvPr/>
          </p:nvCxnSpPr>
          <p:spPr>
            <a:xfrm flipH="1" rot="10800000">
              <a:off x="4456037" y="2109045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7"/>
            <p:cNvCxnSpPr>
              <a:stCxn id="209" idx="6"/>
              <a:endCxn id="233" idx="2"/>
            </p:cNvCxnSpPr>
            <p:nvPr/>
          </p:nvCxnSpPr>
          <p:spPr>
            <a:xfrm>
              <a:off x="4456037" y="2422845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7"/>
            <p:cNvCxnSpPr>
              <a:stCxn id="209" idx="6"/>
              <a:endCxn id="234" idx="2"/>
            </p:cNvCxnSpPr>
            <p:nvPr/>
          </p:nvCxnSpPr>
          <p:spPr>
            <a:xfrm>
              <a:off x="4456037" y="2422845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7"/>
            <p:cNvCxnSpPr>
              <a:stCxn id="209" idx="6"/>
              <a:endCxn id="238" idx="2"/>
            </p:cNvCxnSpPr>
            <p:nvPr/>
          </p:nvCxnSpPr>
          <p:spPr>
            <a:xfrm>
              <a:off x="4456037" y="2422845"/>
              <a:ext cx="857100" cy="159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7"/>
            <p:cNvCxnSpPr>
              <a:stCxn id="215" idx="6"/>
              <a:endCxn id="231" idx="2"/>
            </p:cNvCxnSpPr>
            <p:nvPr/>
          </p:nvCxnSpPr>
          <p:spPr>
            <a:xfrm flipH="1" rot="10800000">
              <a:off x="4456037" y="1795476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7"/>
            <p:cNvCxnSpPr>
              <a:stCxn id="215" idx="6"/>
              <a:endCxn id="232" idx="2"/>
            </p:cNvCxnSpPr>
            <p:nvPr/>
          </p:nvCxnSpPr>
          <p:spPr>
            <a:xfrm flipH="1" rot="10800000">
              <a:off x="4456037" y="2108976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7"/>
            <p:cNvCxnSpPr>
              <a:stCxn id="215" idx="6"/>
              <a:endCxn id="233" idx="2"/>
            </p:cNvCxnSpPr>
            <p:nvPr/>
          </p:nvCxnSpPr>
          <p:spPr>
            <a:xfrm flipH="1" rot="10800000">
              <a:off x="4456037" y="2422776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7"/>
            <p:cNvCxnSpPr>
              <a:stCxn id="215" idx="6"/>
              <a:endCxn id="234" idx="2"/>
            </p:cNvCxnSpPr>
            <p:nvPr/>
          </p:nvCxnSpPr>
          <p:spPr>
            <a:xfrm>
              <a:off x="4456037" y="2736576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7"/>
            <p:cNvCxnSpPr>
              <a:stCxn id="215" idx="6"/>
              <a:endCxn id="238" idx="2"/>
            </p:cNvCxnSpPr>
            <p:nvPr/>
          </p:nvCxnSpPr>
          <p:spPr>
            <a:xfrm>
              <a:off x="4456037" y="2736576"/>
              <a:ext cx="857100" cy="128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" name="Google Shape;259;p7"/>
            <p:cNvCxnSpPr>
              <a:stCxn id="216" idx="6"/>
              <a:endCxn id="234" idx="2"/>
            </p:cNvCxnSpPr>
            <p:nvPr/>
          </p:nvCxnSpPr>
          <p:spPr>
            <a:xfrm flipH="1" rot="10800000">
              <a:off x="4456037" y="2736507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" name="Google Shape;260;p7"/>
            <p:cNvCxnSpPr>
              <a:stCxn id="216" idx="6"/>
              <a:endCxn id="231" idx="2"/>
            </p:cNvCxnSpPr>
            <p:nvPr/>
          </p:nvCxnSpPr>
          <p:spPr>
            <a:xfrm flipH="1" rot="10800000">
              <a:off x="4456037" y="1795407"/>
              <a:ext cx="857100" cy="125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1" name="Google Shape;261;p7"/>
            <p:cNvCxnSpPr>
              <a:stCxn id="216" idx="6"/>
              <a:endCxn id="232" idx="2"/>
            </p:cNvCxnSpPr>
            <p:nvPr/>
          </p:nvCxnSpPr>
          <p:spPr>
            <a:xfrm flipH="1" rot="10800000">
              <a:off x="4456037" y="2109207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7"/>
            <p:cNvCxnSpPr>
              <a:stCxn id="216" idx="6"/>
              <a:endCxn id="233" idx="2"/>
            </p:cNvCxnSpPr>
            <p:nvPr/>
          </p:nvCxnSpPr>
          <p:spPr>
            <a:xfrm flipH="1" rot="10800000">
              <a:off x="4456037" y="2422707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7"/>
            <p:cNvCxnSpPr>
              <a:stCxn id="216" idx="6"/>
              <a:endCxn id="238" idx="2"/>
            </p:cNvCxnSpPr>
            <p:nvPr/>
          </p:nvCxnSpPr>
          <p:spPr>
            <a:xfrm>
              <a:off x="4456037" y="3050307"/>
              <a:ext cx="857100" cy="96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7"/>
            <p:cNvCxnSpPr>
              <a:stCxn id="217" idx="6"/>
              <a:endCxn id="238" idx="2"/>
            </p:cNvCxnSpPr>
            <p:nvPr/>
          </p:nvCxnSpPr>
          <p:spPr>
            <a:xfrm>
              <a:off x="4456037" y="3364038"/>
              <a:ext cx="857100" cy="65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7"/>
            <p:cNvCxnSpPr>
              <a:stCxn id="217" idx="6"/>
              <a:endCxn id="234" idx="2"/>
            </p:cNvCxnSpPr>
            <p:nvPr/>
          </p:nvCxnSpPr>
          <p:spPr>
            <a:xfrm flipH="1" rot="10800000">
              <a:off x="4456037" y="2736438"/>
              <a:ext cx="8571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7"/>
            <p:cNvCxnSpPr>
              <a:stCxn id="217" idx="6"/>
              <a:endCxn id="233" idx="2"/>
            </p:cNvCxnSpPr>
            <p:nvPr/>
          </p:nvCxnSpPr>
          <p:spPr>
            <a:xfrm flipH="1" rot="10800000">
              <a:off x="4456037" y="2422938"/>
              <a:ext cx="857100" cy="94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7"/>
            <p:cNvCxnSpPr>
              <a:stCxn id="217" idx="6"/>
              <a:endCxn id="232" idx="2"/>
            </p:cNvCxnSpPr>
            <p:nvPr/>
          </p:nvCxnSpPr>
          <p:spPr>
            <a:xfrm flipH="1" rot="10800000">
              <a:off x="4456037" y="2109138"/>
              <a:ext cx="857100" cy="125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7"/>
            <p:cNvCxnSpPr>
              <a:stCxn id="217" idx="6"/>
              <a:endCxn id="231" idx="2"/>
            </p:cNvCxnSpPr>
            <p:nvPr/>
          </p:nvCxnSpPr>
          <p:spPr>
            <a:xfrm flipH="1" rot="10800000">
              <a:off x="4456037" y="1795338"/>
              <a:ext cx="857100" cy="156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7"/>
            <p:cNvCxnSpPr>
              <a:stCxn id="226" idx="6"/>
              <a:endCxn id="231" idx="2"/>
            </p:cNvCxnSpPr>
            <p:nvPr/>
          </p:nvCxnSpPr>
          <p:spPr>
            <a:xfrm flipH="1" rot="10800000">
              <a:off x="4456037" y="1795494"/>
              <a:ext cx="857100" cy="190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7"/>
            <p:cNvCxnSpPr>
              <a:stCxn id="226" idx="6"/>
              <a:endCxn id="232" idx="2"/>
            </p:cNvCxnSpPr>
            <p:nvPr/>
          </p:nvCxnSpPr>
          <p:spPr>
            <a:xfrm flipH="1" rot="10800000">
              <a:off x="4456037" y="2108994"/>
              <a:ext cx="857100" cy="159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7"/>
            <p:cNvCxnSpPr>
              <a:stCxn id="226" idx="6"/>
              <a:endCxn id="233" idx="2"/>
            </p:cNvCxnSpPr>
            <p:nvPr/>
          </p:nvCxnSpPr>
          <p:spPr>
            <a:xfrm flipH="1" rot="10800000">
              <a:off x="4456037" y="2422794"/>
              <a:ext cx="857100" cy="128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2" name="Google Shape;272;p7"/>
            <p:cNvCxnSpPr>
              <a:stCxn id="226" idx="6"/>
              <a:endCxn id="234" idx="2"/>
            </p:cNvCxnSpPr>
            <p:nvPr/>
          </p:nvCxnSpPr>
          <p:spPr>
            <a:xfrm flipH="1" rot="10800000">
              <a:off x="4456037" y="2736594"/>
              <a:ext cx="857100" cy="96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7"/>
            <p:cNvCxnSpPr>
              <a:stCxn id="226" idx="6"/>
              <a:endCxn id="238" idx="2"/>
            </p:cNvCxnSpPr>
            <p:nvPr/>
          </p:nvCxnSpPr>
          <p:spPr>
            <a:xfrm>
              <a:off x="4456037" y="3704094"/>
              <a:ext cx="857100" cy="31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7"/>
            <p:cNvCxnSpPr>
              <a:stCxn id="227" idx="6"/>
              <a:endCxn id="238" idx="2"/>
            </p:cNvCxnSpPr>
            <p:nvPr/>
          </p:nvCxnSpPr>
          <p:spPr>
            <a:xfrm>
              <a:off x="4456037" y="4017825"/>
              <a:ext cx="85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7"/>
            <p:cNvCxnSpPr>
              <a:stCxn id="227" idx="6"/>
              <a:endCxn id="234" idx="2"/>
            </p:cNvCxnSpPr>
            <p:nvPr/>
          </p:nvCxnSpPr>
          <p:spPr>
            <a:xfrm flipH="1" rot="10800000">
              <a:off x="4456037" y="2736525"/>
              <a:ext cx="857100" cy="128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7"/>
            <p:cNvCxnSpPr>
              <a:stCxn id="227" idx="6"/>
              <a:endCxn id="233" idx="2"/>
            </p:cNvCxnSpPr>
            <p:nvPr/>
          </p:nvCxnSpPr>
          <p:spPr>
            <a:xfrm flipH="1" rot="10800000">
              <a:off x="4456037" y="2422725"/>
              <a:ext cx="857100" cy="159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7"/>
            <p:cNvCxnSpPr>
              <a:stCxn id="227" idx="6"/>
              <a:endCxn id="232" idx="2"/>
            </p:cNvCxnSpPr>
            <p:nvPr/>
          </p:nvCxnSpPr>
          <p:spPr>
            <a:xfrm flipH="1" rot="10800000">
              <a:off x="4456037" y="2109225"/>
              <a:ext cx="857100" cy="190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7"/>
            <p:cNvCxnSpPr>
              <a:stCxn id="227" idx="6"/>
              <a:endCxn id="231" idx="2"/>
            </p:cNvCxnSpPr>
            <p:nvPr/>
          </p:nvCxnSpPr>
          <p:spPr>
            <a:xfrm flipH="1" rot="10800000">
              <a:off x="4456037" y="1795425"/>
              <a:ext cx="857100" cy="222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9" name="Google Shape;279;p7"/>
            <p:cNvSpPr/>
            <p:nvPr/>
          </p:nvSpPr>
          <p:spPr>
            <a:xfrm>
              <a:off x="6156929" y="2662780"/>
              <a:ext cx="487648" cy="487648"/>
            </a:xfrm>
            <a:prstGeom prst="ellipse">
              <a:avLst/>
            </a:prstGeom>
            <a:solidFill>
              <a:srgbClr val="A8C5EB"/>
            </a:solidFill>
            <a:ln cap="flat" cmpd="sng" w="25400">
              <a:solidFill>
                <a:srgbClr val="0E1B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" name="Google Shape;280;p7"/>
            <p:cNvCxnSpPr/>
            <p:nvPr/>
          </p:nvCxnSpPr>
          <p:spPr>
            <a:xfrm>
              <a:off x="6747172" y="2935013"/>
              <a:ext cx="475311" cy="0"/>
            </a:xfrm>
            <a:prstGeom prst="straightConnector1">
              <a:avLst/>
            </a:prstGeom>
            <a:noFill/>
            <a:ln cap="flat" cmpd="sng" w="57150">
              <a:solidFill>
                <a:srgbClr val="0E1B3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81" name="Google Shape;281;p7"/>
            <p:cNvSpPr txBox="1"/>
            <p:nvPr/>
          </p:nvSpPr>
          <p:spPr>
            <a:xfrm>
              <a:off x="6994928" y="2538138"/>
              <a:ext cx="342900" cy="307777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17647" l="0" r="-23213" t="-39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2" name="Google Shape;282;p7"/>
            <p:cNvCxnSpPr>
              <a:stCxn id="231" idx="6"/>
              <a:endCxn id="279" idx="2"/>
            </p:cNvCxnSpPr>
            <p:nvPr/>
          </p:nvCxnSpPr>
          <p:spPr>
            <a:xfrm>
              <a:off x="5543689" y="1795383"/>
              <a:ext cx="613200" cy="111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7"/>
            <p:cNvCxnSpPr>
              <a:stCxn id="232" idx="6"/>
              <a:endCxn id="279" idx="2"/>
            </p:cNvCxnSpPr>
            <p:nvPr/>
          </p:nvCxnSpPr>
          <p:spPr>
            <a:xfrm>
              <a:off x="5543689" y="2109114"/>
              <a:ext cx="613200" cy="79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4" name="Google Shape;284;p7"/>
            <p:cNvCxnSpPr>
              <a:stCxn id="233" idx="6"/>
              <a:endCxn id="279" idx="2"/>
            </p:cNvCxnSpPr>
            <p:nvPr/>
          </p:nvCxnSpPr>
          <p:spPr>
            <a:xfrm>
              <a:off x="5543689" y="2422845"/>
              <a:ext cx="613200" cy="48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7"/>
            <p:cNvCxnSpPr>
              <a:stCxn id="234" idx="6"/>
              <a:endCxn id="279" idx="2"/>
            </p:cNvCxnSpPr>
            <p:nvPr/>
          </p:nvCxnSpPr>
          <p:spPr>
            <a:xfrm>
              <a:off x="5543689" y="2736576"/>
              <a:ext cx="613200" cy="17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7"/>
            <p:cNvCxnSpPr>
              <a:stCxn id="238" idx="6"/>
              <a:endCxn id="279" idx="2"/>
            </p:cNvCxnSpPr>
            <p:nvPr/>
          </p:nvCxnSpPr>
          <p:spPr>
            <a:xfrm flipH="1" rot="10800000">
              <a:off x="5543689" y="2906625"/>
              <a:ext cx="613200" cy="111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7" name="Google Shape;287;p7"/>
          <p:cNvSpPr/>
          <p:nvPr/>
        </p:nvSpPr>
        <p:spPr>
          <a:xfrm>
            <a:off x="7738531" y="3514117"/>
            <a:ext cx="374400" cy="3573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25400">
            <a:solidFill>
              <a:srgbClr val="6B2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738531" y="3193951"/>
            <a:ext cx="374400" cy="3573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25400">
            <a:solidFill>
              <a:srgbClr val="6B2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7731022" y="2873785"/>
            <a:ext cx="374400" cy="3573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25400">
            <a:solidFill>
              <a:srgbClr val="6B2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7731022" y="2540919"/>
            <a:ext cx="374400" cy="3573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25400">
            <a:solidFill>
              <a:srgbClr val="6B2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02550" y="4243575"/>
            <a:ext cx="94161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Only cutting phase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20 time frames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Feature Extraction (Mean, Standard deviation, Max, Min, Kurtosis, Skewness, peak to peak (max - min), 25th percentile, 75th percentile, Mean frequency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Output = Vb average from edges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3 hidden layers + 1 output layer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64 → 32 → 16 → 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ae4169cbb_0_8"/>
          <p:cNvSpPr txBox="1"/>
          <p:nvPr>
            <p:ph idx="12" type="sldNum"/>
          </p:nvPr>
        </p:nvSpPr>
        <p:spPr>
          <a:xfrm>
            <a:off x="9117874" y="609509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8" name="Google Shape;298;g3dae4169cbb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75" y="1770150"/>
            <a:ext cx="7431795" cy="33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dae4169cbb_0_8"/>
          <p:cNvSpPr txBox="1"/>
          <p:nvPr>
            <p:ph idx="4294967295" type="title"/>
          </p:nvPr>
        </p:nvSpPr>
        <p:spPr>
          <a:xfrm>
            <a:off x="354750" y="0"/>
            <a:ext cx="1148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Result (1)</a:t>
            </a:r>
            <a:endParaRPr/>
          </a:p>
        </p:txBody>
      </p:sp>
      <p:sp>
        <p:nvSpPr>
          <p:cNvPr id="300" name="Google Shape;300;g3dae4169cbb_0_8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301" name="Google Shape;301;g3dae4169cbb_0_8"/>
          <p:cNvSpPr txBox="1"/>
          <p:nvPr/>
        </p:nvSpPr>
        <p:spPr>
          <a:xfrm>
            <a:off x="184275" y="1034604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1: force + torque + vibration + Acoustic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ae4169cbb_0_8"/>
          <p:cNvSpPr txBox="1"/>
          <p:nvPr/>
        </p:nvSpPr>
        <p:spPr>
          <a:xfrm>
            <a:off x="7488625" y="1934750"/>
            <a:ext cx="4568700" cy="3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Both train and test MSE drop fast in the first ~</a:t>
            </a: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6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0 epochs</a:t>
            </a:r>
            <a:endParaRPr b="0" i="0" sz="16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Train MSE: 0.002120  |  Test MSE: 0.004456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Successfully predicts upward going behavior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Cluster around low wear + overprediction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 wear: saturation of force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"/>
          <p:cNvSpPr txBox="1"/>
          <p:nvPr>
            <p:ph idx="4294967295" type="title"/>
          </p:nvPr>
        </p:nvSpPr>
        <p:spPr>
          <a:xfrm>
            <a:off x="262750" y="44475"/>
            <a:ext cx="9288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Result (2)</a:t>
            </a:r>
            <a:endParaRPr/>
          </a:p>
        </p:txBody>
      </p:sp>
      <p:sp>
        <p:nvSpPr>
          <p:cNvPr id="309" name="Google Shape;309;p8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8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pic>
        <p:nvPicPr>
          <p:cNvPr id="311" name="Google Shape;3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407" y="7108096"/>
            <a:ext cx="2465198" cy="154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8407" y="8239804"/>
            <a:ext cx="2037251" cy="127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10800000">
            <a:off x="7976549" y="9304730"/>
            <a:ext cx="2580474" cy="2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848" y="1770148"/>
            <a:ext cx="7962552" cy="33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8"/>
          <p:cNvSpPr txBox="1"/>
          <p:nvPr/>
        </p:nvSpPr>
        <p:spPr>
          <a:xfrm>
            <a:off x="7804550" y="1934750"/>
            <a:ext cx="4568700" cy="3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Both train and test MSE drop fast in the first ~30 epochs</a:t>
            </a:r>
            <a:endParaRPr b="0" i="0" sz="16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Train MSE: 0.000993  |  Test MSE: 0.003518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starting MSE is much lower: model learns patterns more quickly with fewer and cleaner features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scatter is more tightly grouped around the ideal line, especially at higher Vbmax</a:t>
            </a:r>
            <a:endParaRPr sz="16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-750300" y="1119954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2: force + torque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 txBox="1"/>
          <p:nvPr>
            <p:ph idx="4294967295" type="title"/>
          </p:nvPr>
        </p:nvSpPr>
        <p:spPr>
          <a:xfrm>
            <a:off x="0" y="0"/>
            <a:ext cx="6936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Result</a:t>
            </a:r>
            <a:endParaRPr/>
          </a:p>
        </p:txBody>
      </p:sp>
      <p:sp>
        <p:nvSpPr>
          <p:cNvPr id="323" name="Google Shape;323;p9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9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graphicFrame>
        <p:nvGraphicFramePr>
          <p:cNvPr id="325" name="Google Shape;325;p9"/>
          <p:cNvGraphicFramePr/>
          <p:nvPr/>
        </p:nvGraphicFramePr>
        <p:xfrm>
          <a:off x="126328" y="1542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{17EE3A70-3416-420F-8DA9-ADF39E0F7646}</a:tableStyleId>
              </a:tblPr>
              <a:tblGrid>
                <a:gridCol w="2580675"/>
                <a:gridCol w="2580675"/>
                <a:gridCol w="2580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Training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Test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Wu et al. (2020)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3.6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5.0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Wiciak-Pikuła et al. (2020)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0.022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Ours (case 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0.002120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0.0026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Ours (case 2)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0.000993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0.0019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26" name="Google Shape;326;p9"/>
          <p:cNvSpPr txBox="1"/>
          <p:nvPr/>
        </p:nvSpPr>
        <p:spPr>
          <a:xfrm>
            <a:off x="1031062" y="1116967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0" y="3269312"/>
            <a:ext cx="6936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E84A27"/>
                </a:solidFill>
                <a:latin typeface="Georgia"/>
                <a:ea typeface="Georgia"/>
                <a:cs typeface="Georgia"/>
                <a:sym typeface="Georgia"/>
              </a:rPr>
              <a:t>Future work 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7274162" y="110842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8121985" y="1593005"/>
            <a:ext cx="4070015" cy="1150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Dataset is relatively small </a:t>
            </a:r>
            <a:endParaRPr b="0" i="0" sz="20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Not counting for cutting speed,.etc</a:t>
            </a:r>
            <a:endParaRPr b="0" i="0" sz="20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lang="en-US" sz="20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Lack of extreme wear data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244951" y="4500644"/>
            <a:ext cx="6882111" cy="1150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Try the same pipeline with a diff. dataset </a:t>
            </a:r>
            <a:endParaRPr b="0" i="0" sz="20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Try </a:t>
            </a:r>
            <a:r>
              <a:rPr lang="en-US" sz="20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en-US" sz="2000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 feature extractions</a:t>
            </a:r>
            <a:endParaRPr sz="200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</a:rPr>
              <a:t>Try to implement at UIUC machine shop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360777" y="1147750"/>
            <a:ext cx="21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Comp. time &lt; 10 sec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/>
          <p:nvPr>
            <p:ph idx="4294967295" type="title"/>
          </p:nvPr>
        </p:nvSpPr>
        <p:spPr>
          <a:xfrm>
            <a:off x="274715" y="2296223"/>
            <a:ext cx="114823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Backup slides </a:t>
            </a:r>
            <a:endParaRPr/>
          </a:p>
        </p:txBody>
      </p:sp>
      <p:sp>
        <p:nvSpPr>
          <p:cNvPr id="338" name="Google Shape;338;p11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11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 txBox="1"/>
          <p:nvPr>
            <p:ph idx="4294967295" type="title"/>
          </p:nvPr>
        </p:nvSpPr>
        <p:spPr>
          <a:xfrm>
            <a:off x="709613" y="266701"/>
            <a:ext cx="114823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346" name="Google Shape;346;p18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18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166975" y="2430464"/>
            <a:ext cx="18424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pipeline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1700911" y="6322961"/>
            <a:ext cx="91446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Wu et al. (2020) The International Journal of Advanced Manufacturing Technology 106 (2020) 4391-4399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8585" y="1510748"/>
            <a:ext cx="6925238" cy="413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19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pic>
        <p:nvPicPr>
          <p:cNvPr id="358" name="Google Shape;3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766" y="194900"/>
            <a:ext cx="6853134" cy="5656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p20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pic>
        <p:nvPicPr>
          <p:cNvPr id="366" name="Google Shape;3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1738" y="749345"/>
            <a:ext cx="8008523" cy="466593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 txBox="1"/>
          <p:nvPr/>
        </p:nvSpPr>
        <p:spPr>
          <a:xfrm>
            <a:off x="2438400" y="6273889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Caggiano (2018) Sensors 18 (2018) 823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21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pic>
        <p:nvPicPr>
          <p:cNvPr id="375" name="Google Shape;3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049" y="218986"/>
            <a:ext cx="9358313" cy="577376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 txBox="1"/>
          <p:nvPr/>
        </p:nvSpPr>
        <p:spPr>
          <a:xfrm>
            <a:off x="1771650" y="6273889"/>
            <a:ext cx="83248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Zhu et al. (2019) Mechanical Systems and Signal Processing 115 (2019) 147-161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>
            <p:ph idx="4294967295" type="title"/>
          </p:nvPr>
        </p:nvSpPr>
        <p:spPr>
          <a:xfrm>
            <a:off x="0" y="4064"/>
            <a:ext cx="114823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Our Dataset</a:t>
            </a:r>
            <a:endParaRPr/>
          </a:p>
        </p:txBody>
      </p:sp>
      <p:sp>
        <p:nvSpPr>
          <p:cNvPr id="383" name="Google Shape;383;p22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22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0" y="1584553"/>
            <a:ext cx="388017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Milling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Machining Path: circular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Tool: Coated TiAlN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data during machining: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Cutting force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Vibration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Acoustic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1850965" y="6273889"/>
            <a:ext cx="95097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 et al. (2025) A multi-feature dataset of coated end milling cutter tool wear whole life cycle. Scientific Data, 12(1), 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3758751" y="1463105"/>
            <a:ext cx="55470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multi-feature dataset of coated end milling cutter tool wear whole life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9259" y="2081730"/>
            <a:ext cx="6119631" cy="40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p23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1058638" y="3275100"/>
            <a:ext cx="89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7173438" y="3275100"/>
            <a:ext cx="89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8659" y="357009"/>
            <a:ext cx="3064690" cy="311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8650" y="3469742"/>
            <a:ext cx="3064700" cy="311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0950" y="275526"/>
            <a:ext cx="3064700" cy="311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0950" y="3388254"/>
            <a:ext cx="3064700" cy="3112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"/>
          <p:cNvSpPr txBox="1"/>
          <p:nvPr>
            <p:ph idx="4294967295" type="title"/>
          </p:nvPr>
        </p:nvSpPr>
        <p:spPr>
          <a:xfrm>
            <a:off x="709613" y="266701"/>
            <a:ext cx="114823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400"/>
              <a:buFont typeface="Georgia"/>
              <a:buNone/>
            </a:pPr>
            <a:r>
              <a:rPr lang="en-US"/>
              <a:t>Sources</a:t>
            </a:r>
            <a:endParaRPr/>
          </a:p>
        </p:txBody>
      </p:sp>
      <p:sp>
        <p:nvSpPr>
          <p:cNvPr id="407" name="Google Shape;407;p12"/>
          <p:cNvSpPr txBox="1"/>
          <p:nvPr/>
        </p:nvSpPr>
        <p:spPr>
          <a:xfrm>
            <a:off x="477309" y="1370014"/>
            <a:ext cx="11514666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rgbClr val="13294B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https://www.mdpi.com/2076-3417/11/24/12041</a:t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3294B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3294B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 txBox="1"/>
          <p:nvPr>
            <p:ph idx="12" type="sldNum"/>
          </p:nvPr>
        </p:nvSpPr>
        <p:spPr>
          <a:xfrm>
            <a:off x="9117874" y="6095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9" name="Google Shape;409;p12"/>
          <p:cNvSpPr txBox="1"/>
          <p:nvPr>
            <p:ph idx="1" type="body"/>
          </p:nvPr>
        </p:nvSpPr>
        <p:spPr>
          <a:xfrm>
            <a:off x="666750" y="6273889"/>
            <a:ext cx="1533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 452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University of Illinois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4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2021-06-30T16:23:50Z</dcterms:created>
  <dc:creator>Oliver, Nancy J</dc:creator>
</cp:coreProperties>
</file>